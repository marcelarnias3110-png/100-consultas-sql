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640080"/>
            <a:ext cx="2103120" cy="2103120"/>
          </a:xfrm>
          <a:prstGeom prst="ellipse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011680"/>
            <a:ext cx="1234440" cy="1234440"/>
          </a:xfrm>
          <a:prstGeom prst="ellipse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2926080"/>
            <a:ext cx="640080" cy="640080"/>
          </a:xfrm>
          <a:prstGeom prst="ellipse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786384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800" b="1">
                <a:solidFill>
                  <a:srgbClr val="FAFBFF"/>
                </a:solidFill>
                <a:latin typeface="Aptos"/>
              </a:defRPr>
            </a:pPr>
            <a:r>
              <a:t>DE UNA APLICACIÓN</a:t>
            </a:r>
            <a:br/>
            <a: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03320"/>
            <a:ext cx="6858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0">
                <a:solidFill>
                  <a:srgbClr val="CFD9E9"/>
                </a:solidFill>
                <a:latin typeface="Aptos"/>
              </a:defRPr>
            </a:pPr>
            <a:r>
              <a:t>Seguridad · estabilidad · rendimiento · mejora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06440"/>
            <a:ext cx="8686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A5B4CD"/>
                </a:solidFill>
                <a:latin typeface="Aptos"/>
              </a:defRPr>
            </a:pPr>
            <a:r>
              <a:t>Guía práctica basada en el documento proporcionado, adaptada al entorno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01 · CONCEPTOS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¿Por qué es importante mantenerla?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515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000" b="0">
                <a:solidFill>
                  <a:srgbClr val="FAFBFF"/>
                </a:solidFill>
                <a:latin typeface="Aptos"/>
              </a:defRPr>
            </a:pPr>
            <a:r>
              <a:t>Una aplicación web no termina cuando se publica: necesita revisiones periódicas para seguir siendo fiable y útil.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2606040" cy="2103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898648"/>
            <a:ext cx="54864" cy="1883663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53512"/>
            <a:ext cx="2221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92424"/>
            <a:ext cx="2221992" cy="1389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Reducir vulnerabilidades y proteger los datos.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788920"/>
            <a:ext cx="2606040" cy="2103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898648"/>
            <a:ext cx="54864" cy="1883663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953512"/>
            <a:ext cx="2221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ESTABILIDAD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392424"/>
            <a:ext cx="2221992" cy="1389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Evitar errores, caídas y pérdida de información.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788920"/>
            <a:ext cx="2606040" cy="2103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898648"/>
            <a:ext cx="54864" cy="1883663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953512"/>
            <a:ext cx="22219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RENDIMIENTO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392424"/>
            <a:ext cx="2221992" cy="1389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Mejorar carga, respuesta y consumo de recursos.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788920"/>
            <a:ext cx="2286000" cy="2103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898648"/>
            <a:ext cx="54864" cy="1883663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2953512"/>
            <a:ext cx="1901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EVOLUCIÓN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392424"/>
            <a:ext cx="1901952" cy="1389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Adaptarse a usuarios, navegadores y servicios.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02 · ENFOQUE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Los 4 tipos de mantenimiento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578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54864" cy="1380744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Correctivo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48737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Solucionar errores detectados por usuarios, pruebas o monitorización.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2578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38528"/>
            <a:ext cx="54864" cy="138074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93392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Preventivo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432304"/>
            <a:ext cx="48737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Actualizar dependencias, revisar código y reducir riesgos antes de que fallen.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578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50208"/>
            <a:ext cx="54864" cy="1380744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Adaptativo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43984"/>
            <a:ext cx="48737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Ajustar la aplicación a navegadores, sistemas, APIs o infraestructura nuevos.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2578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950208"/>
            <a:ext cx="54864" cy="1380744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005072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1">
                <a:solidFill>
                  <a:srgbClr val="FAFBFF"/>
                </a:solidFill>
                <a:latin typeface="Aptos"/>
              </a:defRPr>
            </a:pPr>
            <a:r>
              <a:t>Evolutivo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443984"/>
            <a:ext cx="48737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Añadir mejoras y funciones a partir de necesidades y comentarios.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03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Revisión técnica y control del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Revisar cambios recientes, deuda técnica y módulos con más defectos.</a:t>
            </a:r>
          </a:p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Ejecutar análisis estático, linters y comprobaciones automáticas.</a:t>
            </a:r>
          </a:p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Actualizar frameworks, bibliotecas y herramientas desde fuentes fiables.</a:t>
            </a:r>
          </a:p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Eliminar dependencias sin uso y comprobar compatibilidad.</a:t>
            </a:r>
          </a:p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Usar control de versiones, revisión de código y entornos separados.</a:t>
            </a:r>
          </a:p>
          <a:p>
            <a:pPr>
              <a:spcAft>
                <a:spcPts val="1200"/>
              </a:spcAft>
              <a:defRPr sz="1700">
                <a:solidFill>
                  <a:srgbClr val="FAFBFF"/>
                </a:solidFill>
                <a:latin typeface="Aptos"/>
              </a:defRPr>
            </a:pPr>
            <a:r>
              <a:t>•  No guardar claves, tokens ni credenciales en el repositorio.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5166360"/>
            <a:ext cx="2834640" cy="77724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5276088"/>
            <a:ext cx="54864" cy="55778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5330952"/>
            <a:ext cx="24505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FAFBFF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5769864"/>
            <a:ext cx="2450592" cy="64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CFD9E9"/>
                </a:solidFill>
                <a:latin typeface="Aptos"/>
              </a:defRPr>
            </a:pPr>
            <a:r>
              <a:t>Cambios trazables y reproducibles.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04 · PROTECCIÓN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Seguridad y privacidad desde el diseño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92807"/>
            <a:ext cx="54864" cy="138074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ACCESO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30449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Autenticación robusta, permisos por rol y sesiones seguras.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4290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92807"/>
            <a:ext cx="54864" cy="1380744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COMUNICACIÓN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86584"/>
            <a:ext cx="30449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HTTPS/TLS, validación de entradas y errores controlados.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16002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92807"/>
            <a:ext cx="54864" cy="1380744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86584"/>
            <a:ext cx="3044952" cy="8869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CFD9E9"/>
                </a:solidFill>
                <a:latin typeface="Aptos"/>
              </a:defRPr>
            </a:pPr>
            <a:r>
              <a:t>Recoger lo mínimo, limitar accesos y definir conservación.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241280" cy="20116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AFBFF"/>
                </a:solidFill>
                <a:latin typeface="Aptos"/>
              </a:defRPr>
            </a:pPr>
            <a:r>
              <a:t>•  Analizar vulnerabilidades de dependencias y componentes propios.</a:t>
            </a:r>
          </a:p>
          <a:p>
            <a:pPr>
              <a:spcAft>
                <a:spcPts val="900"/>
              </a:spcAft>
              <a:defRPr sz="1500">
                <a:solidFill>
                  <a:srgbClr val="FAFBFF"/>
                </a:solidFill>
                <a:latin typeface="Aptos"/>
              </a:defRPr>
            </a:pPr>
            <a:r>
              <a:t>•  Proteger secretos mediante variables de entorno o un gestor seguro.</a:t>
            </a:r>
          </a:p>
          <a:p>
            <a:pPr>
              <a:spcAft>
                <a:spcPts val="900"/>
              </a:spcAft>
              <a:defRPr sz="1500">
                <a:solidFill>
                  <a:srgbClr val="FAFBFF"/>
                </a:solidFill>
                <a:latin typeface="Aptos"/>
              </a:defRPr>
            </a:pPr>
            <a:r>
              <a:t>•  Evitar datos personales y credenciales en registros y analítica.</a:t>
            </a:r>
          </a:p>
          <a:p>
            <a:pPr>
              <a:spcAft>
                <a:spcPts val="900"/>
              </a:spcAft>
              <a:defRPr sz="1500">
                <a:solidFill>
                  <a:srgbClr val="FAFBFF"/>
                </a:solidFill>
                <a:latin typeface="Aptos"/>
              </a:defRPr>
            </a:pPr>
            <a:r>
              <a:t>•  Preparar rotación de claves y respuesta ante incidentes.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05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Pruebas antes de cada cambio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828800"/>
            <a:ext cx="658368" cy="658368"/>
          </a:xfrm>
          <a:prstGeom prst="ellipse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75104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11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Unitarias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2004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CFD9E9"/>
                </a:solidFill>
                <a:latin typeface="Aptos"/>
              </a:defRPr>
            </a:pPr>
            <a:r>
              <a:t>Validan funciones y componentes aislados.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1828800"/>
            <a:ext cx="658368" cy="658368"/>
          </a:xfrm>
          <a:prstGeom prst="ellipse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975104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11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Integración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004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CFD9E9"/>
                </a:solidFill>
                <a:latin typeface="Aptos"/>
              </a:defRPr>
            </a:pPr>
            <a:r>
              <a:t>Comprueban la comunicación entre módulos y APIs.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1828800"/>
            <a:ext cx="658368" cy="658368"/>
          </a:xfrm>
          <a:prstGeom prst="ellipse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975104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11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004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CFD9E9"/>
                </a:solidFill>
                <a:latin typeface="Aptos"/>
              </a:defRPr>
            </a:pPr>
            <a:r>
              <a:t>Verifican formularios, navegación y comportamiento visual.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0" y="1828800"/>
            <a:ext cx="658368" cy="658368"/>
          </a:xfrm>
          <a:prstGeom prst="ellipse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975104"/>
            <a:ext cx="6583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11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9748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>
                <a:solidFill>
                  <a:srgbClr val="FAFBFF"/>
                </a:solidFill>
                <a:latin typeface="Aptos"/>
              </a:defRPr>
            </a:pPr>
            <a:r>
              <a:t>Regresión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200400"/>
            <a:ext cx="22860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0">
                <a:solidFill>
                  <a:srgbClr val="CFD9E9"/>
                </a:solidFill>
                <a:latin typeface="Aptos"/>
              </a:defRPr>
            </a:pPr>
            <a:r>
              <a:t>Confirman que lo que funcionaba sigue funcionando.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92040"/>
            <a:ext cx="10241280" cy="86868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001768"/>
            <a:ext cx="54864" cy="64922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056631"/>
            <a:ext cx="985723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>
                <a:solidFill>
                  <a:srgbClr val="FAFBFF"/>
                </a:solidFill>
                <a:latin typeface="Aptos"/>
              </a:defRPr>
            </a:pPr>
            <a:r>
              <a:t>REGLA PRÁCTICA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495544"/>
            <a:ext cx="9857232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Probar también en distintos navegadores, tamaños de pantalla y condiciones de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06 · EXPERIENCIA DE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Rendimiento, compatibilidad y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3246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92807"/>
            <a:ext cx="54864" cy="3026663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3044952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• Medir tiempo de carga y respuesta.</a:t>
            </a:r>
            <a:br/>
            <a:br/>
            <a:r>
              <a:t>• Optimizar imágenes, caché y consultas.</a:t>
            </a:r>
            <a:br/>
            <a:br/>
            <a:r>
              <a:t>• Detectar fugas de memoria y tareas lentas.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429000" cy="3246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92807"/>
            <a:ext cx="54864" cy="3026663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COMPATIBILIDAD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86584"/>
            <a:ext cx="3044952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• Probar navegadores y dispositivos representativos.</a:t>
            </a:r>
            <a:br/>
            <a:br/>
            <a:r>
              <a:t>• Revisar diseño adaptable y accesibilidad.</a:t>
            </a:r>
            <a:br/>
            <a:br/>
            <a:r>
              <a:t>• Verificar teclado, contraste y lectores de pantalla.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29000" cy="32461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92807"/>
            <a:ext cx="54864" cy="3026663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BACKEND Y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86584"/>
            <a:ext cx="3044952" cy="2532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CFD9E9"/>
                </a:solidFill>
                <a:latin typeface="Aptos"/>
              </a:defRPr>
            </a:pPr>
            <a:r>
              <a:t>• Vigilar latencia, disponibilidad y errores.</a:t>
            </a:r>
            <a:br/>
            <a:br/>
            <a:r>
              <a:t>• Mantener contratos de API documentados.</a:t>
            </a:r>
            <a:br/>
            <a:br/>
            <a:r>
              <a:t>• Preparar alternativas ante fallos externos.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07 · PUESTA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Publicación y despliegue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515600" cy="42976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Preparar una versión identificable y notas de cambios.</a:t>
            </a:r>
          </a:p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Ejecutar pruebas en un entorno de preproducción parecido al real.</a:t>
            </a:r>
          </a:p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Verificar configuración, permisos, migraciones y ausencia de datos de prueba.</a:t>
            </a:r>
          </a:p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Publicar de forma gradual cuando sea posible y observar métricas.</a:t>
            </a:r>
          </a:p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Tener listo un plan para desactivar funciones o revertir el cambio.</a:t>
            </a:r>
          </a:p>
          <a:p>
            <a:pPr>
              <a:spcAft>
                <a:spcPts val="1200"/>
              </a:spcAft>
              <a:defRPr sz="1600">
                <a:solidFill>
                  <a:srgbClr val="FAFBFF"/>
                </a:solidFill>
                <a:latin typeface="Aptos"/>
              </a:defRPr>
            </a:pPr>
            <a:r>
              <a:t>•  Documentar responsable, incidencias conocidas y decisión de publicación.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3AC6D3"/>
                </a:solidFill>
                <a:latin typeface="Aptos"/>
              </a:defRPr>
            </a:pPr>
            <a:r>
              <a:t>No desplegar sin saber cómo detectar un problema y cómo volver atrás.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08 · OPERACIONES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Monitorización y respuesta a incidentes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1920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DETECTAR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7223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CFD9E9"/>
                </a:solidFill>
                <a:latin typeface="Aptos"/>
              </a:defRPr>
            </a:pPr>
            <a:r>
              <a:t>Alertas de caídas, errores, latencia y autenticación.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76272"/>
            <a:ext cx="22860" cy="438912"/>
          </a:xfrm>
          <a:prstGeom prst="rect">
            <a:avLst/>
          </a:prstGeom>
          <a:solidFill>
            <a:srgbClr val="465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43200"/>
            <a:ext cx="1920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PRIORIZAR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7223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CFD9E9"/>
                </a:solidFill>
                <a:latin typeface="Aptos"/>
              </a:defRPr>
            </a:pPr>
            <a:r>
              <a:t>Valorar impacto, alcance y riesgo para los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82112"/>
            <a:ext cx="22860" cy="438912"/>
          </a:xfrm>
          <a:prstGeom prst="rect">
            <a:avLst/>
          </a:prstGeom>
          <a:solidFill>
            <a:srgbClr val="465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49039"/>
            <a:ext cx="1920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MITIGAR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7223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CFD9E9"/>
                </a:solidFill>
                <a:latin typeface="Aptos"/>
              </a:defRPr>
            </a:pPr>
            <a:r>
              <a:t>Reducir el impacto y comunicar el estado.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187952"/>
            <a:ext cx="22860" cy="438912"/>
          </a:xfrm>
          <a:prstGeom prst="rect">
            <a:avLst/>
          </a:prstGeom>
          <a:solidFill>
            <a:srgbClr val="465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502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54880"/>
            <a:ext cx="1920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FAFBFF"/>
                </a:solidFill>
                <a:latin typeface="Aptos"/>
              </a:defRPr>
            </a:pPr>
            <a:r>
              <a:t>APRENDER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54880"/>
            <a:ext cx="7223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CFD9E9"/>
                </a:solidFill>
                <a:latin typeface="Aptos"/>
              </a:defRPr>
            </a:pPr>
            <a:r>
              <a:t>Analizar la causa raíz y prevenir recurrencias.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15000"/>
            <a:ext cx="10149840" cy="59436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824728"/>
            <a:ext cx="54864" cy="374904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879592"/>
            <a:ext cx="97657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FAFBFF"/>
                </a:solidFill>
                <a:latin typeface="Aptos"/>
              </a:defRPr>
            </a:pPr>
            <a:r>
              <a:t>IMPORTANTE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6318504"/>
            <a:ext cx="9765792" cy="-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CFD9E9"/>
                </a:solidFill>
                <a:latin typeface="Aptos"/>
              </a:defRPr>
            </a:pPr>
            <a:r>
              <a:t>Probar copias de seguridad y recuperación; no basta con tenerlas.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09 · RUTINA DE MANTENIMIENTO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Calendario recomendado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10561320" cy="640080"/>
          </a:xfrm>
          <a:prstGeom prst="roundRect">
            <a:avLst/>
          </a:prstGeom>
          <a:solidFill>
            <a:srgbClr val="1D2C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37944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3AC6D3"/>
                </a:solidFill>
                <a:latin typeface="Aptos"/>
              </a:defRPr>
            </a:pPr>
            <a:r>
              <a:t>Continuo / diario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749807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FAFBFF"/>
                </a:solidFill>
                <a:latin typeface="Aptos"/>
              </a:defRPr>
            </a:pPr>
            <a:r>
              <a:t>Monitorización, alertas y errores críticos.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32888"/>
            <a:ext cx="10561320" cy="640080"/>
          </a:xfrm>
          <a:prstGeom prst="roundRect">
            <a:avLst/>
          </a:prstGeom>
          <a:solidFill>
            <a:srgbClr val="1D2C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2E69DC"/>
                </a:solidFill>
                <a:latin typeface="Aptos"/>
              </a:defRPr>
            </a:pPr>
            <a:r>
              <a:t>Semanal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9192"/>
            <a:ext cx="749807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FAFBFF"/>
                </a:solidFill>
                <a:latin typeface="Aptos"/>
              </a:defRPr>
            </a:pPr>
            <a:r>
              <a:t>Tickets, copias de seguridad, pipeline y vulnerabilidades.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74136"/>
            <a:ext cx="10561320" cy="640080"/>
          </a:xfrm>
          <a:prstGeom prst="roundRect">
            <a:avLst/>
          </a:prstGeom>
          <a:solidFill>
            <a:srgbClr val="1D2C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32AA82"/>
                </a:solidFill>
                <a:latin typeface="Aptos"/>
              </a:defRPr>
            </a:pPr>
            <a:r>
              <a:t>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20440"/>
            <a:ext cx="749807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FAFBFF"/>
                </a:solidFill>
                <a:latin typeface="Aptos"/>
              </a:defRPr>
            </a:pPr>
            <a:r>
              <a:t>Rendimiento, compatibilidad, permisos y costes.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15384"/>
            <a:ext cx="10561320" cy="640080"/>
          </a:xfrm>
          <a:prstGeom prst="roundRect">
            <a:avLst/>
          </a:prstGeom>
          <a:solidFill>
            <a:srgbClr val="1D2C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61688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FFAB4C"/>
                </a:solidFill>
                <a:latin typeface="Aptos"/>
              </a:defRPr>
            </a:pPr>
            <a:r>
              <a:t>Trimestral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61688"/>
            <a:ext cx="749807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FAFBFF"/>
                </a:solidFill>
                <a:latin typeface="Aptos"/>
              </a:defRPr>
            </a:pPr>
            <a:r>
              <a:t>Arquitectura, deuda técnica, accesibilidad y recuperación.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56632"/>
            <a:ext cx="10561320" cy="640080"/>
          </a:xfrm>
          <a:prstGeom prst="roundRect">
            <a:avLst/>
          </a:prstGeom>
          <a:solidFill>
            <a:srgbClr val="1D2C48"/>
          </a:solidFill>
          <a:ln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202936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3AC6D3"/>
                </a:solidFill>
                <a:latin typeface="Aptos"/>
              </a:defRPr>
            </a:pPr>
            <a:r>
              <a:t>Antes de publicar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02936"/>
            <a:ext cx="749807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FAFBFF"/>
                </a:solidFill>
                <a:latin typeface="Aptos"/>
              </a:defRPr>
            </a:pPr>
            <a:r>
              <a:t>Pruebas, seguridad, documentación, despliegue y reversión.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10 ·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Indicadores para saber si mejora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92807"/>
            <a:ext cx="54864" cy="1197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Tasa de errores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865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Estabilidad por versión y navegador.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92807"/>
            <a:ext cx="54864" cy="1197864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Usuarios sin fallos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865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Porcentaje de sesiones sin errores.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892807"/>
            <a:ext cx="54864" cy="1197864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476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Tiempo de carga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3865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Rapidez percibida por el usuario.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21608"/>
            <a:ext cx="54864" cy="1197864"/>
          </a:xfrm>
          <a:prstGeom prst="rect">
            <a:avLst/>
          </a:prstGeom>
          <a:solidFill>
            <a:srgbClr val="FF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764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Latencia de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2153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Salud de la comunicación con el servidor.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118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21608"/>
            <a:ext cx="54864" cy="1197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764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Tiempo de resolución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2153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Rapidez para corregir incidencias.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11880"/>
            <a:ext cx="3429000" cy="141732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721608"/>
            <a:ext cx="54864" cy="1197864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776472"/>
            <a:ext cx="30449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AFBFF"/>
                </a:solidFill>
                <a:latin typeface="Aptos"/>
              </a:defRPr>
            </a:pPr>
            <a:r>
              <a:t>Regresiones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215384"/>
            <a:ext cx="3044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CFD9E9"/>
                </a:solidFill>
                <a:latin typeface="Aptos"/>
              </a:defRPr>
            </a:pPr>
            <a:r>
              <a:t>Fallos nuevos causados por cambios.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3AC6D3"/>
                </a:solidFill>
                <a:latin typeface="Aptos"/>
              </a:defRPr>
            </a:pPr>
            <a:r>
              <a:t>Compara siempre con una línea base y observa la tendencia, no solo un dato aislado.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3AC6D3"/>
                </a:solidFill>
                <a:latin typeface="Aptos"/>
              </a:defRPr>
            </a:pPr>
            <a:r>
              <a:t>11 · CONTROL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800" b="1">
                <a:solidFill>
                  <a:srgbClr val="FAFBFF"/>
                </a:solidFill>
                <a:latin typeface="Aptos"/>
              </a:defRPr>
            </a:pPr>
            <a:r>
              <a:t>Checklist antes de publicar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44752"/>
            <a:ext cx="777240" cy="5486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>
                <a:solidFill>
                  <a:srgbClr val="A5B4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1" y="171907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El cambio tiene objetivo y criterios de aceptación claros.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1" y="267919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El código ha sido revisado y las pruebas han pasado.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5760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1" y="363931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No quedan vulnerabilidades críticas sin gestionar.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1772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1" y="459943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Se ha probado en navegadores y dispositivos representativos.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73736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171907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Rendimiento, privacidad y accesibilidad están revisados.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69748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67919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Configuración, APIs y migraciones son compatibles.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65760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363931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Documentación, monitorización y responsables están definidos.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617720"/>
            <a:ext cx="347472" cy="347472"/>
          </a:xfrm>
          <a:prstGeom prst="roundRect">
            <a:avLst/>
          </a:prstGeom>
          <a:solidFill>
            <a:srgbClr val="1D2C48"/>
          </a:solidFill>
          <a:ln>
            <a:solidFill>
              <a:srgbClr val="3A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4599432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FAFBFF"/>
                </a:solidFill>
                <a:latin typeface="Aptos"/>
              </a:defRPr>
            </a:pPr>
            <a:r>
              <a:t>Existe un plan de reversión y se sabe cuándo detener el despliegue.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3AC6D3"/>
                </a:solidFill>
                <a:latin typeface="Aptos"/>
              </a:defRPr>
            </a:pPr>
            <a:r>
              <a:t>IDEA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877824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600" b="1">
                <a:solidFill>
                  <a:srgbClr val="FAFBFF"/>
                </a:solidFill>
                <a:latin typeface="Aptos"/>
              </a:defRPr>
            </a:pPr>
            <a:r>
              <a:t>Mantener es mejorar</a:t>
            </a:r>
            <a:br/>
            <a:r>
              <a:t>continuamente.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8961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000" b="0">
                <a:solidFill>
                  <a:srgbClr val="CFD9E9"/>
                </a:solidFill>
                <a:latin typeface="Aptos"/>
              </a:defRPr>
            </a:pPr>
            <a:r>
              <a:t>Prioriza la seguridad y los datos, valida cada cambio con pruebas y utiliza métricas reales para decidir qué mejorar.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3200400" cy="9144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001768"/>
            <a:ext cx="54864" cy="694944"/>
          </a:xfrm>
          <a:prstGeom prst="rect">
            <a:avLst/>
          </a:prstGeom>
          <a:solidFill>
            <a:srgbClr val="3A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056631"/>
            <a:ext cx="28163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FAFBFF"/>
                </a:solidFill>
                <a:latin typeface="Aptos"/>
              </a:defRPr>
            </a:pPr>
            <a:r>
              <a:t>PREVENIR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495544"/>
            <a:ext cx="2816352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CFD9E9"/>
                </a:solidFill>
                <a:latin typeface="Aptos"/>
              </a:defRPr>
            </a:pPr>
            <a:r>
              <a:t>Anticiparse a los fallos.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892040"/>
            <a:ext cx="3200400" cy="9144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5001768"/>
            <a:ext cx="54864" cy="694944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5056631"/>
            <a:ext cx="28163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FAFBFF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5495544"/>
            <a:ext cx="2816352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CFD9E9"/>
                </a:solidFill>
                <a:latin typeface="Aptos"/>
              </a:defRPr>
            </a:pPr>
            <a:r>
              <a:t>Tomar decisiones con datos.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892040"/>
            <a:ext cx="3200400" cy="914400"/>
          </a:xfrm>
          <a:prstGeom prst="roundRect">
            <a:avLst/>
          </a:prstGeom>
          <a:solidFill>
            <a:srgbClr val="1D2C48"/>
          </a:solidFill>
          <a:ln w="10160">
            <a:solidFill>
              <a:srgbClr val="36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5001768"/>
            <a:ext cx="54864" cy="694944"/>
          </a:xfrm>
          <a:prstGeom prst="rect">
            <a:avLst/>
          </a:prstGeom>
          <a:solidFill>
            <a:srgbClr val="32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5056631"/>
            <a:ext cx="28163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>
                <a:solidFill>
                  <a:srgbClr val="FAFBFF"/>
                </a:solidFill>
                <a:latin typeface="Aptos"/>
              </a:defRPr>
            </a:pPr>
            <a:r>
              <a:t>APRENDER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495544"/>
            <a:ext cx="2816352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>
                <a:solidFill>
                  <a:srgbClr val="CFD9E9"/>
                </a:solidFill>
                <a:latin typeface="Aptos"/>
              </a:defRPr>
            </a:pPr>
            <a:r>
              <a:t>Convertir incidentes en mejoras.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0">
                <a:solidFill>
                  <a:srgbClr val="A5B4CD"/>
                </a:solidFill>
                <a:latin typeface="Aptos"/>
              </a:defRPr>
            </a:pPr>
            <a:r>
              <a:t>Contenido adaptado de la guía proporcionada sobre mantenimiento de aplicaciones móviles; los principios comunes se han trasladado al entorno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